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aleway"/>
      <p:regular r:id="rId11"/>
      <p:bold r:id="rId12"/>
      <p:italic r:id="rId13"/>
      <p:boldItalic r:id="rId14"/>
    </p:embeddedFont>
    <p:embeddedFont>
      <p:font typeface="La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aleway-regular.fntdata"/><Relationship Id="rId10" Type="http://schemas.openxmlformats.org/officeDocument/2006/relationships/slide" Target="slides/slide5.xml"/><Relationship Id="rId13" Type="http://schemas.openxmlformats.org/officeDocument/2006/relationships/font" Target="fonts/Raleway-italic.fntdata"/><Relationship Id="rId12"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ato-regular.fntdata"/><Relationship Id="rId14" Type="http://schemas.openxmlformats.org/officeDocument/2006/relationships/font" Target="fonts/Raleway-boldItalic.fntdata"/><Relationship Id="rId17" Type="http://schemas.openxmlformats.org/officeDocument/2006/relationships/font" Target="fonts/Lato-italic.fntdata"/><Relationship Id="rId16"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d7c18e59d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d7c18e59d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7c18e59d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7c18e59d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d7c18e59da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d7c18e59da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d7c18e59da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d7c18e59da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Informe Tendencias de Videos por categoría y región</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Información recopilada desde noviembre de 2017 hasta junio de 2018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458600" y="1318650"/>
            <a:ext cx="8473500" cy="535200"/>
          </a:xfrm>
          <a:prstGeom prst="rect">
            <a:avLst/>
          </a:prstGeom>
        </p:spPr>
        <p:txBody>
          <a:bodyPr anchorCtr="0" anchor="t" bIns="91425" lIns="91425" spcFirstLastPara="1" rIns="91425" wrap="square" tIns="91425">
            <a:normAutofit fontScale="90000"/>
          </a:bodyPr>
          <a:lstStyle/>
          <a:p>
            <a:pPr indent="-228600" lvl="0" marL="457200" rtl="0" algn="l">
              <a:lnSpc>
                <a:spcPct val="115000"/>
              </a:lnSpc>
              <a:spcBef>
                <a:spcPts val="0"/>
              </a:spcBef>
              <a:spcAft>
                <a:spcPts val="0"/>
              </a:spcAft>
              <a:buClr>
                <a:srgbClr val="000000"/>
              </a:buClr>
              <a:buSzPct val="100000"/>
              <a:buFont typeface="Arial"/>
              <a:buNone/>
            </a:pPr>
            <a:r>
              <a:rPr lang="es" sz="1794">
                <a:solidFill>
                  <a:srgbClr val="000000"/>
                </a:solidFill>
                <a:highlight>
                  <a:srgbClr val="FFFFFF"/>
                </a:highlight>
                <a:latin typeface="Arial"/>
                <a:ea typeface="Arial"/>
                <a:cs typeface="Arial"/>
                <a:sym typeface="Arial"/>
              </a:rPr>
              <a:t>¿Qué categorías de videos estuvieron en tendencia más frecuentemente?</a:t>
            </a:r>
            <a:endParaRPr sz="1794">
              <a:solidFill>
                <a:srgbClr val="000000"/>
              </a:solidFill>
              <a:highlight>
                <a:srgbClr val="FFFFFF"/>
              </a:highlight>
              <a:latin typeface="Arial"/>
              <a:ea typeface="Arial"/>
              <a:cs typeface="Arial"/>
              <a:sym typeface="Arial"/>
            </a:endParaRPr>
          </a:p>
          <a:p>
            <a:pPr indent="0" lvl="0" marL="0" rtl="0" algn="l">
              <a:spcBef>
                <a:spcPts val="0"/>
              </a:spcBef>
              <a:spcAft>
                <a:spcPts val="0"/>
              </a:spcAft>
              <a:buNone/>
            </a:pPr>
            <a:r>
              <a:t/>
            </a:r>
            <a:endParaRPr/>
          </a:p>
        </p:txBody>
      </p:sp>
      <p:sp>
        <p:nvSpPr>
          <p:cNvPr id="93" name="Google Shape;93;p14"/>
          <p:cNvSpPr txBox="1"/>
          <p:nvPr>
            <p:ph idx="1" type="body"/>
          </p:nvPr>
        </p:nvSpPr>
        <p:spPr>
          <a:xfrm>
            <a:off x="4954575" y="2042200"/>
            <a:ext cx="3463500" cy="2798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Las categorías de videos que estuvieron en tendencia con mayor frecuencia desde el mes de noviembre 2017 a junio 2018 fueron: </a:t>
            </a:r>
            <a:endParaRPr/>
          </a:p>
          <a:p>
            <a:pPr indent="-311150" lvl="0" marL="457200" rtl="0" algn="l">
              <a:spcBef>
                <a:spcPts val="1200"/>
              </a:spcBef>
              <a:spcAft>
                <a:spcPts val="0"/>
              </a:spcAft>
              <a:buSzPts val="1300"/>
              <a:buChar char="-"/>
            </a:pPr>
            <a:r>
              <a:rPr lang="es"/>
              <a:t>Entertainment, siendo la categoría de mayor tendencia.</a:t>
            </a:r>
            <a:endParaRPr/>
          </a:p>
          <a:p>
            <a:pPr indent="-311150" lvl="0" marL="457200" rtl="0" algn="l">
              <a:spcBef>
                <a:spcPts val="0"/>
              </a:spcBef>
              <a:spcAft>
                <a:spcPts val="0"/>
              </a:spcAft>
              <a:buSzPts val="1300"/>
              <a:buChar char="-"/>
            </a:pPr>
            <a:r>
              <a:rPr lang="es"/>
              <a:t>People $ Blogs como la segunda categoría en tendencia. </a:t>
            </a:r>
            <a:endParaRPr/>
          </a:p>
          <a:p>
            <a:pPr indent="-311150" lvl="0" marL="457200" rtl="0" algn="l">
              <a:spcBef>
                <a:spcPts val="0"/>
              </a:spcBef>
              <a:spcAft>
                <a:spcPts val="0"/>
              </a:spcAft>
              <a:buSzPts val="1300"/>
              <a:buChar char="-"/>
            </a:pPr>
            <a:r>
              <a:rPr lang="es"/>
              <a:t>Music, la tercera categoría. </a:t>
            </a:r>
            <a:endParaRPr/>
          </a:p>
          <a:p>
            <a:pPr indent="0" lvl="0" marL="0" rtl="0" algn="l">
              <a:spcBef>
                <a:spcPts val="1200"/>
              </a:spcBef>
              <a:spcAft>
                <a:spcPts val="1200"/>
              </a:spcAft>
              <a:buNone/>
            </a:pPr>
            <a:r>
              <a:rPr lang="es"/>
              <a:t>Estas 3 categorías fueron el ranking general entre todas las regiones durante todo el periodo analizado. </a:t>
            </a:r>
            <a:endParaRPr/>
          </a:p>
        </p:txBody>
      </p:sp>
      <p:pic>
        <p:nvPicPr>
          <p:cNvPr id="94" name="Google Shape;94;p14"/>
          <p:cNvPicPr preferRelativeResize="0"/>
          <p:nvPr/>
        </p:nvPicPr>
        <p:blipFill>
          <a:blip r:embed="rId3">
            <a:alphaModFix/>
          </a:blip>
          <a:stretch>
            <a:fillRect/>
          </a:stretch>
        </p:blipFill>
        <p:spPr>
          <a:xfrm>
            <a:off x="347524" y="1853850"/>
            <a:ext cx="4002850" cy="3300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228600" lvl="0" marL="457200" rtl="0" algn="l">
              <a:lnSpc>
                <a:spcPct val="115000"/>
              </a:lnSpc>
              <a:spcBef>
                <a:spcPts val="0"/>
              </a:spcBef>
              <a:spcAft>
                <a:spcPts val="0"/>
              </a:spcAft>
              <a:buClr>
                <a:srgbClr val="000000"/>
              </a:buClr>
              <a:buSzPts val="1615"/>
              <a:buFont typeface="Arial"/>
              <a:buNone/>
            </a:pPr>
            <a:r>
              <a:rPr lang="es" sz="1615">
                <a:solidFill>
                  <a:srgbClr val="000000"/>
                </a:solidFill>
                <a:highlight>
                  <a:srgbClr val="FFFFFF"/>
                </a:highlight>
                <a:latin typeface="Arial"/>
                <a:ea typeface="Arial"/>
                <a:cs typeface="Arial"/>
                <a:sym typeface="Arial"/>
              </a:rPr>
              <a:t>¿Cómo se distribuyeron en las regiones?</a:t>
            </a:r>
            <a:endParaRPr sz="1615">
              <a:solidFill>
                <a:srgbClr val="000000"/>
              </a:solidFill>
              <a:highlight>
                <a:srgbClr val="FFFFFF"/>
              </a:highlight>
              <a:latin typeface="Arial"/>
              <a:ea typeface="Arial"/>
              <a:cs typeface="Arial"/>
              <a:sym typeface="Arial"/>
            </a:endParaRPr>
          </a:p>
          <a:p>
            <a:pPr indent="0" lvl="0" marL="0" rtl="0" algn="l">
              <a:spcBef>
                <a:spcPts val="0"/>
              </a:spcBef>
              <a:spcAft>
                <a:spcPts val="0"/>
              </a:spcAft>
              <a:buSzPts val="990"/>
              <a:buNone/>
            </a:pPr>
            <a:r>
              <a:t/>
            </a:r>
            <a:endParaRPr sz="2340"/>
          </a:p>
        </p:txBody>
      </p:sp>
      <p:sp>
        <p:nvSpPr>
          <p:cNvPr id="100" name="Google Shape;100;p15"/>
          <p:cNvSpPr txBox="1"/>
          <p:nvPr>
            <p:ph idx="1" type="body"/>
          </p:nvPr>
        </p:nvSpPr>
        <p:spPr>
          <a:xfrm>
            <a:off x="729450" y="1853850"/>
            <a:ext cx="7688700" cy="248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Para el último mes de junio 2018. Las reproducción total de videos entre todas las regiones estuvieron bastante parejas, como se puede evidenciar en en el gráfico de pastel. Sin embargo estados unidos fue la región líder con el 22% de las reproducciones totales y Japón el más bajo con el 17.5%. </a:t>
            </a:r>
            <a:endParaRPr/>
          </a:p>
          <a:p>
            <a:pPr indent="0" lvl="0" marL="0" rtl="0" algn="l">
              <a:spcBef>
                <a:spcPts val="1200"/>
              </a:spcBef>
              <a:spcAft>
                <a:spcPts val="1200"/>
              </a:spcAft>
              <a:buNone/>
            </a:pPr>
            <a:r>
              <a:t/>
            </a:r>
            <a:endParaRPr/>
          </a:p>
        </p:txBody>
      </p:sp>
      <p:pic>
        <p:nvPicPr>
          <p:cNvPr id="101" name="Google Shape;101;p15"/>
          <p:cNvPicPr preferRelativeResize="0"/>
          <p:nvPr/>
        </p:nvPicPr>
        <p:blipFill>
          <a:blip r:embed="rId3">
            <a:alphaModFix/>
          </a:blip>
          <a:stretch>
            <a:fillRect/>
          </a:stretch>
        </p:blipFill>
        <p:spPr>
          <a:xfrm>
            <a:off x="2975700" y="2746350"/>
            <a:ext cx="3192600" cy="2326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615">
                <a:solidFill>
                  <a:srgbClr val="000000"/>
                </a:solidFill>
                <a:highlight>
                  <a:srgbClr val="FFFFFF"/>
                </a:highlight>
                <a:latin typeface="Arial"/>
                <a:ea typeface="Arial"/>
                <a:cs typeface="Arial"/>
                <a:sym typeface="Arial"/>
              </a:rPr>
              <a:t>¿Qué categorías fueron particularmente populares en los Estados Unidos? ¿Hubo diferencias entre las categorías populares en Estados Unidos y en otros lugares?</a:t>
            </a:r>
            <a:endParaRPr sz="1615">
              <a:solidFill>
                <a:srgbClr val="000000"/>
              </a:solidFill>
              <a:highlight>
                <a:srgbClr val="FFFFFF"/>
              </a:highlight>
              <a:latin typeface="Arial"/>
              <a:ea typeface="Arial"/>
              <a:cs typeface="Arial"/>
              <a:sym typeface="Arial"/>
            </a:endParaRPr>
          </a:p>
          <a:p>
            <a:pPr indent="0" lvl="0" marL="0" rtl="0" algn="l">
              <a:spcBef>
                <a:spcPts val="0"/>
              </a:spcBef>
              <a:spcAft>
                <a:spcPts val="0"/>
              </a:spcAft>
              <a:buSzPts val="990"/>
              <a:buNone/>
            </a:pPr>
            <a:r>
              <a:t/>
            </a:r>
            <a:endParaRPr sz="2340"/>
          </a:p>
        </p:txBody>
      </p:sp>
      <p:sp>
        <p:nvSpPr>
          <p:cNvPr id="107" name="Google Shape;107;p16"/>
          <p:cNvSpPr txBox="1"/>
          <p:nvPr>
            <p:ph idx="1" type="body"/>
          </p:nvPr>
        </p:nvSpPr>
        <p:spPr>
          <a:xfrm>
            <a:off x="4069075" y="3471888"/>
            <a:ext cx="3844500" cy="833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s"/>
              <a:t>Las principales categorías para EEUU para el último més son Music, Entertainment y Howto $ Style. </a:t>
            </a:r>
            <a:endParaRPr/>
          </a:p>
        </p:txBody>
      </p:sp>
      <p:pic>
        <p:nvPicPr>
          <p:cNvPr id="108" name="Google Shape;108;p16"/>
          <p:cNvPicPr preferRelativeResize="0"/>
          <p:nvPr/>
        </p:nvPicPr>
        <p:blipFill>
          <a:blip r:embed="rId3">
            <a:alphaModFix/>
          </a:blip>
          <a:stretch>
            <a:fillRect/>
          </a:stretch>
        </p:blipFill>
        <p:spPr>
          <a:xfrm>
            <a:off x="1011675" y="2571750"/>
            <a:ext cx="2672900" cy="2245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idx="1" type="body"/>
          </p:nvPr>
        </p:nvSpPr>
        <p:spPr>
          <a:xfrm>
            <a:off x="729450" y="1524775"/>
            <a:ext cx="7688700" cy="281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Para el resto de regiones las principales categorías son: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14" name="Google Shape;114;p17"/>
          <p:cNvPicPr preferRelativeResize="0"/>
          <p:nvPr/>
        </p:nvPicPr>
        <p:blipFill>
          <a:blip r:embed="rId3">
            <a:alphaModFix/>
          </a:blip>
          <a:stretch>
            <a:fillRect/>
          </a:stretch>
        </p:blipFill>
        <p:spPr>
          <a:xfrm>
            <a:off x="729450" y="2146975"/>
            <a:ext cx="2598957" cy="1008800"/>
          </a:xfrm>
          <a:prstGeom prst="rect">
            <a:avLst/>
          </a:prstGeom>
          <a:noFill/>
          <a:ln>
            <a:noFill/>
          </a:ln>
        </p:spPr>
      </p:pic>
      <p:pic>
        <p:nvPicPr>
          <p:cNvPr id="115" name="Google Shape;115;p17"/>
          <p:cNvPicPr preferRelativeResize="0"/>
          <p:nvPr/>
        </p:nvPicPr>
        <p:blipFill>
          <a:blip r:embed="rId4">
            <a:alphaModFix/>
          </a:blip>
          <a:stretch>
            <a:fillRect/>
          </a:stretch>
        </p:blipFill>
        <p:spPr>
          <a:xfrm>
            <a:off x="729450" y="3468500"/>
            <a:ext cx="2650225" cy="1008795"/>
          </a:xfrm>
          <a:prstGeom prst="rect">
            <a:avLst/>
          </a:prstGeom>
          <a:noFill/>
          <a:ln>
            <a:noFill/>
          </a:ln>
        </p:spPr>
      </p:pic>
      <p:pic>
        <p:nvPicPr>
          <p:cNvPr id="116" name="Google Shape;116;p17"/>
          <p:cNvPicPr preferRelativeResize="0"/>
          <p:nvPr/>
        </p:nvPicPr>
        <p:blipFill>
          <a:blip r:embed="rId5">
            <a:alphaModFix/>
          </a:blip>
          <a:stretch>
            <a:fillRect/>
          </a:stretch>
        </p:blipFill>
        <p:spPr>
          <a:xfrm>
            <a:off x="3866475" y="2203925"/>
            <a:ext cx="2469216" cy="894875"/>
          </a:xfrm>
          <a:prstGeom prst="rect">
            <a:avLst/>
          </a:prstGeom>
          <a:noFill/>
          <a:ln>
            <a:noFill/>
          </a:ln>
        </p:spPr>
      </p:pic>
      <p:pic>
        <p:nvPicPr>
          <p:cNvPr id="117" name="Google Shape;117;p17"/>
          <p:cNvPicPr preferRelativeResize="0"/>
          <p:nvPr/>
        </p:nvPicPr>
        <p:blipFill>
          <a:blip r:embed="rId6">
            <a:alphaModFix/>
          </a:blip>
          <a:stretch>
            <a:fillRect/>
          </a:stretch>
        </p:blipFill>
        <p:spPr>
          <a:xfrm>
            <a:off x="3866475" y="3574375"/>
            <a:ext cx="2469225" cy="1021474"/>
          </a:xfrm>
          <a:prstGeom prst="rect">
            <a:avLst/>
          </a:prstGeom>
          <a:noFill/>
          <a:ln>
            <a:noFill/>
          </a:ln>
        </p:spPr>
      </p:pic>
      <p:sp>
        <p:nvSpPr>
          <p:cNvPr id="118" name="Google Shape;118;p17"/>
          <p:cNvSpPr txBox="1"/>
          <p:nvPr/>
        </p:nvSpPr>
        <p:spPr>
          <a:xfrm>
            <a:off x="6718450" y="1971625"/>
            <a:ext cx="2222400" cy="27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accent1"/>
                </a:solidFill>
                <a:latin typeface="Lato"/>
                <a:ea typeface="Lato"/>
                <a:cs typeface="Lato"/>
                <a:sym typeface="Lato"/>
              </a:rPr>
              <a:t>Como se puede ver en todas las regiones la categoría de Entertainment está entre las principales al igual  que en EEUU.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rPr lang="es" sz="1300">
                <a:solidFill>
                  <a:schemeClr val="accent1"/>
                </a:solidFill>
                <a:latin typeface="Lato"/>
                <a:ea typeface="Lato"/>
                <a:cs typeface="Lato"/>
                <a:sym typeface="Lato"/>
              </a:rPr>
              <a:t>EEUU tiene entre sus top 3 a Howto &amp; Style, la cual no se encuentra para las otras categorías, al igual que Music que solo se encuentra en el ranking de la región de India. </a:t>
            </a:r>
            <a:endParaRPr sz="13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